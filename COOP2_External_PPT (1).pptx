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68" r:id="rId1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50464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800" b="1" dirty="0"/>
              <a:t>The Velocity-Veracity Paradox:</a:t>
            </a:r>
            <a:br>
              <a:rPr lang="en-US" sz="2800" dirty="0"/>
            </a:br>
            <a:r>
              <a:rPr lang="en-US" sz="2800" b="1" dirty="0"/>
              <a:t>Execution Speed vs. User Trust in Agentic AI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/>
              <a:t>Abhavya Manchanda (2210990024)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/>
              <a:t>Tanisha (2210990892)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 err="1"/>
              <a:t>Bhavkirat</a:t>
            </a:r>
            <a:r>
              <a:rPr lang="en-IN" dirty="0"/>
              <a:t> Singh (2210991439)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r>
              <a:rPr lang="en-IN" dirty="0"/>
              <a:t>                                                           Dr. Gifty Gupta</a:t>
            </a:r>
            <a:endParaRPr lang="en-IN" sz="2000" dirty="0"/>
          </a:p>
          <a:p>
            <a:pPr algn="ctr"/>
            <a:r>
              <a:rPr lang="en-IN" dirty="0"/>
              <a:t>Assistant Professor, CSE</a:t>
            </a:r>
            <a:endParaRPr lang="en-IN" sz="2000" dirty="0"/>
          </a:p>
          <a:p>
            <a:pPr algn="ctr"/>
            <a:br>
              <a:rPr lang="en-IN" sz="2000" dirty="0"/>
            </a:br>
            <a:br>
              <a:rPr lang="en-IN" sz="2000" dirty="0"/>
            </a:b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5420715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ABAE8-68D7-C9AF-A43D-2E3FFA7A6AA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48929" y="1349324"/>
            <a:ext cx="4935794" cy="475650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from reactive LLMs to Agentic AI introduces autonomous goal-setting and multi-step reasoning. However, machine speeds often outpace human verification capacity, creating an organizational absorption gap.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high-stakes environments, such as financial diagnostics, opacity triggers betrayal aversion, where the cost of AI error increases with the perceived intelligence of the system.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gentic AI Workflow">
            <a:extLst>
              <a:ext uri="{FF2B5EF4-FFF2-40B4-BE49-F238E27FC236}">
                <a16:creationId xmlns:a16="http://schemas.microsoft.com/office/drawing/2014/main" id="{881F4CB6-77B9-80B8-91BE-C91E4F2BD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368" y="1533832"/>
            <a:ext cx="3116825" cy="3529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FCB9-A635-2E0B-E3AF-D8604D9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281E6F5-B43A-CBF8-EBD5-9FBB54E71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342" y="2312492"/>
            <a:ext cx="2753031" cy="2427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2FFDD5-58C4-E2CC-5F9C-9E03C6A668A6}"/>
              </a:ext>
            </a:extLst>
          </p:cNvPr>
          <p:cNvSpPr txBox="1"/>
          <p:nvPr/>
        </p:nvSpPr>
        <p:spPr>
          <a:xfrm>
            <a:off x="6936008" y="3108600"/>
            <a:ext cx="1273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EB Garamond" panose="00000500000000000000" pitchFamily="2" charset="0"/>
              </a:rPr>
              <a:t>Case Study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CDF01-573B-FE01-B8F3-4D52BD51C059}"/>
              </a:ext>
            </a:extLst>
          </p:cNvPr>
          <p:cNvSpPr txBox="1"/>
          <p:nvPr/>
        </p:nvSpPr>
        <p:spPr>
          <a:xfrm>
            <a:off x="6196131" y="3664245"/>
            <a:ext cx="27530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Crimson Pro"/>
              </a:rPr>
              <a:t>Analysis of an autonomous portfolio management system focusing on intermediate reasoning steps.</a:t>
            </a:r>
            <a:endParaRPr lang="en-IN" sz="14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1827D525-5267-21B4-CE58-3FE9AC00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638" y="2624918"/>
            <a:ext cx="381000" cy="3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CE2887E5-B053-EE46-E1D8-9B7B5884D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71" y="2305095"/>
            <a:ext cx="2615380" cy="244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40C5C095-3EC5-3E65-D472-14CE39A9B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671" y="2297700"/>
            <a:ext cx="2753031" cy="244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A4117694-B8B9-BF01-940C-9456ECFC2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769" y="2638515"/>
            <a:ext cx="342900" cy="3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4BA31C-D7EE-248F-5171-17DC81F66A87}"/>
              </a:ext>
            </a:extLst>
          </p:cNvPr>
          <p:cNvSpPr txBox="1"/>
          <p:nvPr/>
        </p:nvSpPr>
        <p:spPr>
          <a:xfrm>
            <a:off x="3542073" y="3137556"/>
            <a:ext cx="1777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strike="noStrike" dirty="0" err="1">
                <a:solidFill>
                  <a:srgbClr val="000000"/>
                </a:solidFill>
                <a:effectLst/>
                <a:latin typeface="EB Garamond" panose="00000500000000000000" pitchFamily="2" charset="0"/>
              </a:rPr>
              <a:t>Behavioral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EB Garamond" panose="00000500000000000000" pitchFamily="2" charset="0"/>
              </a:rPr>
              <a:t> Data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76CC30-781F-BD88-4CC9-F86D91FC4D76}"/>
              </a:ext>
            </a:extLst>
          </p:cNvPr>
          <p:cNvSpPr txBox="1"/>
          <p:nvPr/>
        </p:nvSpPr>
        <p:spPr>
          <a:xfrm>
            <a:off x="3097813" y="3676908"/>
            <a:ext cx="27407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Crimson Pro"/>
              </a:rPr>
              <a:t>Validation across 1,000 AI-human interaction records quantifying accuracy and verification burden.</a:t>
            </a:r>
            <a:endParaRPr lang="en-IN" sz="1400" dirty="0"/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7141AD3D-03E2-3057-32BF-5D14D5D63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499" y="2747031"/>
            <a:ext cx="476250" cy="3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738B5E-CA71-B00F-F172-B7C9958C3F1C}"/>
              </a:ext>
            </a:extLst>
          </p:cNvPr>
          <p:cNvSpPr txBox="1"/>
          <p:nvPr/>
        </p:nvSpPr>
        <p:spPr>
          <a:xfrm>
            <a:off x="557980" y="3137556"/>
            <a:ext cx="1696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EB Garamond" panose="00000500000000000000" pitchFamily="2" charset="0"/>
              </a:rPr>
              <a:t>SEM Analysis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8E3FE6-2BBB-5B17-6C34-243CCC0530F4}"/>
              </a:ext>
            </a:extLst>
          </p:cNvPr>
          <p:cNvSpPr txBox="1"/>
          <p:nvPr/>
        </p:nvSpPr>
        <p:spPr>
          <a:xfrm>
            <a:off x="280222" y="3676908"/>
            <a:ext cx="27407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Crimson Pro"/>
              </a:rPr>
              <a:t>Structural Equation Modeling on 280 university students measuring PEOU, PU, and Trust.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85137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DA9A-03B0-234B-F6DD-2E75BFC9D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5742"/>
            <a:ext cx="5486040" cy="78297"/>
          </a:xfrm>
        </p:spPr>
        <p:txBody>
          <a:bodyPr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Tools and Technologies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B213D-EB08-0EDF-3E97-1F90E8E21446}"/>
              </a:ext>
            </a:extLst>
          </p:cNvPr>
          <p:cNvSpPr txBox="1"/>
          <p:nvPr/>
        </p:nvSpPr>
        <p:spPr>
          <a:xfrm>
            <a:off x="2276168" y="3281205"/>
            <a:ext cx="4591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7676C8-9898-C71D-E9E1-983539C09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544540"/>
              </p:ext>
            </p:extLst>
          </p:nvPr>
        </p:nvGraphicFramePr>
        <p:xfrm>
          <a:off x="457199" y="2077705"/>
          <a:ext cx="8229601" cy="2407000"/>
        </p:xfrm>
        <a:graphic>
          <a:graphicData uri="http://schemas.openxmlformats.org/drawingml/2006/table">
            <a:tbl>
              <a:tblPr/>
              <a:tblGrid>
                <a:gridCol w="1596259">
                  <a:extLst>
                    <a:ext uri="{9D8B030D-6E8A-4147-A177-3AD203B41FA5}">
                      <a16:colId xmlns:a16="http://schemas.microsoft.com/office/drawing/2014/main" val="31298000"/>
                    </a:ext>
                  </a:extLst>
                </a:gridCol>
                <a:gridCol w="2021928">
                  <a:extLst>
                    <a:ext uri="{9D8B030D-6E8A-4147-A177-3AD203B41FA5}">
                      <a16:colId xmlns:a16="http://schemas.microsoft.com/office/drawing/2014/main" val="1491191089"/>
                    </a:ext>
                  </a:extLst>
                </a:gridCol>
                <a:gridCol w="4611414">
                  <a:extLst>
                    <a:ext uri="{9D8B030D-6E8A-4147-A177-3AD203B41FA5}">
                      <a16:colId xmlns:a16="http://schemas.microsoft.com/office/drawing/2014/main" val="795147457"/>
                    </a:ext>
                  </a:extLst>
                </a:gridCol>
              </a:tblGrid>
              <a:tr h="481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Category</a:t>
                      </a:r>
                      <a:endParaRPr lang="en-IN" sz="170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Tool / Technology</a:t>
                      </a:r>
                      <a:endParaRPr lang="en-IN" sz="170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Application</a:t>
                      </a:r>
                      <a:endParaRPr lang="en-IN" sz="1700" dirty="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165704"/>
                  </a:ext>
                </a:extLst>
              </a:tr>
              <a:tr h="481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Analysis</a:t>
                      </a:r>
                      <a:endParaRPr lang="en-IN" sz="170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SmartPLS 4</a:t>
                      </a:r>
                      <a:endParaRPr lang="en-IN" sz="170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Path analysis and PLS-SEM modeling.</a:t>
                      </a:r>
                      <a:endParaRPr lang="en-US" sz="170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127979"/>
                  </a:ext>
                </a:extLst>
              </a:tr>
              <a:tr h="481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Data Collection</a:t>
                      </a:r>
                      <a:endParaRPr lang="en-IN" sz="170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7-point Likert Scale</a:t>
                      </a:r>
                      <a:endParaRPr lang="en-IN" sz="170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Measuring PEOU, PU, and Trust constructs.</a:t>
                      </a:r>
                      <a:endParaRPr lang="en-US" sz="170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756773"/>
                  </a:ext>
                </a:extLst>
              </a:tr>
              <a:tr h="481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Validation</a:t>
                      </a:r>
                      <a:endParaRPr lang="en-IN" sz="170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OLS Regression</a:t>
                      </a:r>
                      <a:endParaRPr lang="en-IN" sz="170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Quantifying trust-accuracy-transparency dynamics.</a:t>
                      </a:r>
                      <a:endParaRPr lang="en-IN" sz="170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351228"/>
                  </a:ext>
                </a:extLst>
              </a:tr>
              <a:tr h="481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Environment</a:t>
                      </a:r>
                      <a:endParaRPr lang="en-IN" sz="170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Financial Simulation</a:t>
                      </a:r>
                      <a:endParaRPr lang="en-IN" sz="170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nb-NO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Crimson Pro"/>
                        </a:rPr>
                        <a:t>Testing HVA vs. CVA agent performance.</a:t>
                      </a:r>
                      <a:endParaRPr lang="nb-NO" sz="1700" dirty="0">
                        <a:effectLst/>
                      </a:endParaRPr>
                    </a:p>
                  </a:txBody>
                  <a:tcPr marL="49661" marR="49661" marT="21283" marB="21283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00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7522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F99-97C8-B2E0-2A64-467EE7893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Findings: HVA vs. CVA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ACD236A-C050-9093-1455-E74808A8E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5639" y="1711684"/>
            <a:ext cx="9144000" cy="396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547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768D4-80DA-5546-0093-E78F94996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F076A-30D0-E8DF-4C01-9E2A815F99F5}"/>
              </a:ext>
            </a:extLst>
          </p:cNvPr>
          <p:cNvSpPr txBox="1"/>
          <p:nvPr/>
        </p:nvSpPr>
        <p:spPr>
          <a:xfrm>
            <a:off x="727587" y="1793143"/>
            <a:ext cx="74233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rgbClr val="333333"/>
                </a:solidFill>
                <a:effectLst/>
                <a:latin typeface="Crimson Pro"/>
              </a:rPr>
              <a:t>Calibrated Velocity:</a:t>
            </a:r>
            <a:r>
              <a:rPr lang="en-US" sz="1800" b="0" i="0" u="none" strike="noStrike" dirty="0">
                <a:solidFill>
                  <a:srgbClr val="333333"/>
                </a:solidFill>
                <a:effectLst/>
                <a:latin typeface="Crimson Pro"/>
              </a:rPr>
              <a:t> Designing AI to match human cognitive capacity through adaptive verbosity and progressive disclosure.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r>
              <a:rPr lang="en-US" b="1" dirty="0"/>
              <a:t>Cognitive Exoskeleton:</a:t>
            </a:r>
            <a:r>
              <a:rPr lang="en-US" dirty="0"/>
              <a:t> Moving from black-box automation to verifiable architectural alignment.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Future Research:</a:t>
            </a:r>
            <a:r>
              <a:rPr lang="en-US" dirty="0"/>
              <a:t> Longitudinal studies and physiological measures to quantify psychological costs.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469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34734</TotalTime>
  <Words>301</Words>
  <Application>Microsoft Office PowerPoint</Application>
  <PresentationFormat>On-screen Show (4:3)</PresentationFormat>
  <Paragraphs>61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Crimson Pro</vt:lpstr>
      <vt:lpstr>EB Garamond</vt:lpstr>
      <vt:lpstr>Times New Roman</vt:lpstr>
      <vt:lpstr>Office Theme</vt:lpstr>
      <vt:lpstr>PowerPoint Presentation</vt:lpstr>
      <vt:lpstr>PowerPoint Presentation</vt:lpstr>
      <vt:lpstr>Methodology</vt:lpstr>
      <vt:lpstr>     Tools and Technologies  </vt:lpstr>
      <vt:lpstr>Major Findings: HVA vs. CVA</vt:lpstr>
      <vt:lpstr>Conclusion and 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Tanisha Sharma</cp:lastModifiedBy>
  <cp:revision>2301</cp:revision>
  <dcterms:created xsi:type="dcterms:W3CDTF">2010-04-09T07:36:15Z</dcterms:created>
  <dcterms:modified xsi:type="dcterms:W3CDTF">2026-05-01T07:10:43Z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