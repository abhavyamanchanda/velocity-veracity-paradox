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57" r:id="rId6"/>
    <p:sldId id="269" r:id="rId7"/>
    <p:sldId id="270" r:id="rId8"/>
    <p:sldId id="271" r:id="rId9"/>
    <p:sldId id="272" r:id="rId10"/>
    <p:sldId id="268" r:id="rId11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B2E2"/>
    <a:srgbClr val="2A66AC"/>
    <a:srgbClr val="75A4DD"/>
    <a:srgbClr val="2E6CB8"/>
    <a:srgbClr val="2A65AC"/>
    <a:srgbClr val="255997"/>
    <a:srgbClr val="3379CD"/>
    <a:srgbClr val="558ED5"/>
    <a:srgbClr val="78A6DE"/>
    <a:srgbClr val="9DBE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607C9A-EDB5-4C0A-BCFE-81AAF6133E6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F00B0C-2831-4624-A5D3-43F42D30B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2B5EB-424D-4C39-A8AB-65F1D7895EF3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34ABA9-0C2F-480A-B554-A457296C39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3BA01-5457-4975-8BF5-D0EAD49D53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99376-55CE-4213-A97D-9D70929AC50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0227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BC1CF-45D5-4DEE-AAB8-8C5341844FC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Name of the faculty [Group: G00] [Sem:2nd]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7523A-12D4-4E0F-9409-B3F845B4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12222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A7523A-12D4-4E0F-9409-B3F845B4833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9BB95-9755-4BC6-8051-C2B8CF54F2A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Name of the faculty [Group: G00] [Sem:2nd]</a:t>
            </a:r>
          </a:p>
        </p:txBody>
      </p:sp>
    </p:spTree>
    <p:extLst>
      <p:ext uri="{BB962C8B-B14F-4D97-AF65-F5344CB8AC3E}">
        <p14:creationId xmlns:p14="http://schemas.microsoft.com/office/powerpoint/2010/main" val="4254874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 dirty="0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3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ustomShape 1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1" name="CustomShape 2"/>
          <p:cNvSpPr/>
          <p:nvPr/>
        </p:nvSpPr>
        <p:spPr>
          <a:xfrm flipV="1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 w="9360">
            <a:noFill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pic>
        <p:nvPicPr>
          <p:cNvPr id="2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pic>
        <p:nvPicPr>
          <p:cNvPr id="3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4" name="Group 3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5" name="CustomShape 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6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7" name="CustomShape 5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8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pic>
        <p:nvPicPr>
          <p:cNvPr id="9" name="Picture 10" descr="LOGO.gif"/>
          <p:cNvPicPr/>
          <p:nvPr/>
        </p:nvPicPr>
        <p:blipFill>
          <a:blip r:embed="rId14"/>
          <a:srcRect b="10718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ln w="9360">
            <a:noFill/>
          </a:ln>
        </p:spPr>
      </p:pic>
      <p:grpSp>
        <p:nvGrpSpPr>
          <p:cNvPr id="10" name="Group 6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1" name="CustomShape 7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 w="936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12" name="Picture 9" descr="LOGO.gif"/>
            <p:cNvPicPr/>
            <p:nvPr/>
          </p:nvPicPr>
          <p:blipFill>
            <a:blip r:embed="rId14"/>
            <a:srcRect b="10718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ln w="9360">
              <a:noFill/>
            </a:ln>
          </p:spPr>
        </p:pic>
        <p:sp>
          <p:nvSpPr>
            <p:cNvPr id="13" name="CustomShape 8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pic>
        <p:nvPicPr>
          <p:cNvPr id="14" name="Picture 15" descr="logo.jpg"/>
          <p:cNvPicPr/>
          <p:nvPr/>
        </p:nvPicPr>
        <p:blipFill>
          <a:blip r:embed="rId15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ln w="9360">
            <a:noFill/>
          </a:ln>
        </p:spPr>
      </p:pic>
      <p:sp>
        <p:nvSpPr>
          <p:cNvPr id="15" name="PlaceHolder 9"/>
          <p:cNvSpPr>
            <a:spLocks noGrp="1"/>
          </p:cNvSpPr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title style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10"/>
          <p:cNvSpPr>
            <a:spLocks noGrp="1"/>
          </p:cNvSpPr>
          <p:nvPr>
            <p:ph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Click to edit Master text styles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743040" lvl="1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Second level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143000" lvl="2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Third level</a:t>
            </a:r>
            <a:endParaRPr lang="en-US" sz="2400" b="0" strike="noStrike" spc="-1" dirty="0">
              <a:solidFill>
                <a:srgbClr val="000000"/>
              </a:solidFill>
              <a:latin typeface="Calibri"/>
            </a:endParaRPr>
          </a:p>
          <a:p>
            <a:pPr marL="1600200" lvl="3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Fourth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 marL="2057400" lvl="4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 dirty="0">
                <a:solidFill>
                  <a:srgbClr val="000000"/>
                </a:solidFill>
                <a:latin typeface="Calibri"/>
                <a:ea typeface="MS PGothic"/>
              </a:rPr>
              <a:t>Fifth level</a:t>
            </a: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11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endParaRPr lang="en-GB" sz="1200" b="0" strike="noStrike" spc="-1">
              <a:latin typeface="Times New Roman"/>
            </a:endParaRPr>
          </a:p>
        </p:txBody>
      </p:sp>
      <p:sp>
        <p:nvSpPr>
          <p:cNvPr id="18" name="PlaceHolder 12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n-GB" sz="2400" b="0" strike="noStrike" spc="-1">
                <a:latin typeface="Times New Roman"/>
              </a:rPr>
              <a:t>Name</a:t>
            </a:r>
          </a:p>
        </p:txBody>
      </p:sp>
      <p:sp>
        <p:nvSpPr>
          <p:cNvPr id="19" name="PlaceHolder 13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1CFDC92E-FF5D-4613-8499-B15BC16E50D9}" type="slidenum">
              <a:rPr lang="en-US" sz="1200" b="0" strike="noStrike" spc="-1">
                <a:solidFill>
                  <a:srgbClr val="898989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Shape 1"/>
          <p:cNvSpPr txBox="1"/>
          <p:nvPr/>
        </p:nvSpPr>
        <p:spPr>
          <a:xfrm>
            <a:off x="0" y="850464"/>
            <a:ext cx="9144000" cy="5377289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Project Presentation of 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CO-OP Project at Industry (Module-2) </a:t>
            </a:r>
            <a:r>
              <a:rPr lang="en-IN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(22CS421)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On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800" b="1" dirty="0"/>
              <a:t>The Velocity-Veracity Paradox:</a:t>
            </a:r>
            <a:br>
              <a:rPr lang="en-US" sz="2800" dirty="0"/>
            </a:br>
            <a:r>
              <a:rPr lang="en-US" sz="2800" b="1" dirty="0"/>
              <a:t>Execution Speed vs. User Trust in Agentic AI</a:t>
            </a:r>
            <a:b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</a:b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dirty="0"/>
              <a:t>Abhavya Manchanda (2210990024)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dirty="0"/>
              <a:t>Tanisha (2210990892)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IN" dirty="0" err="1"/>
              <a:t>Bhavkirat</a:t>
            </a:r>
            <a:r>
              <a:rPr lang="en-IN" dirty="0"/>
              <a:t> Singh (2210991439)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MS PGothic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000" spc="-1" dirty="0">
                <a:solidFill>
                  <a:srgbClr val="000000"/>
                </a:solidFill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Supervised By</a:t>
            </a:r>
          </a:p>
          <a:p>
            <a:r>
              <a:rPr lang="en-IN" dirty="0"/>
              <a:t>                                                           Dr. Gifty Gupta</a:t>
            </a:r>
            <a:endParaRPr lang="en-IN" sz="2000" dirty="0"/>
          </a:p>
          <a:p>
            <a:pPr algn="ctr"/>
            <a:r>
              <a:rPr lang="en-IN" dirty="0"/>
              <a:t>Assistant Professor, CSE</a:t>
            </a:r>
            <a:endParaRPr lang="en-IN" sz="2000" dirty="0"/>
          </a:p>
          <a:p>
            <a:pPr algn="ctr"/>
            <a:br>
              <a:rPr lang="en-IN" sz="2000" dirty="0"/>
            </a:br>
            <a:br>
              <a:rPr lang="en-IN" sz="2000" dirty="0"/>
            </a:br>
            <a:r>
              <a:rPr lang="en-US" sz="2400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Department of </a:t>
            </a: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Computer Science and Engineering, 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en-US" sz="2400" b="0" strike="noStrike" spc="-1" dirty="0">
                <a:latin typeface="Times New Roman" panose="02020603050405020304" pitchFamily="18" charset="0"/>
                <a:ea typeface="MS PGothic"/>
                <a:cs typeface="Times New Roman" panose="02020603050405020304" pitchFamily="18" charset="0"/>
              </a:rPr>
              <a:t>Chitkara University, Punjab</a:t>
            </a:r>
          </a:p>
          <a:p>
            <a:pPr algn="ctr">
              <a:lnSpc>
                <a:spcPct val="150000"/>
              </a:lnSpc>
              <a:spcBef>
                <a:spcPts val="400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641"/>
              </a:spcBef>
            </a:pPr>
            <a:endParaRPr lang="en-US" sz="20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000" b="1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2</a:t>
            </a:fld>
            <a:endParaRPr lang="en-GB" sz="1200" b="0" strike="noStrike" spc="-1">
              <a:latin typeface="Times New Roman"/>
            </a:endParaRPr>
          </a:p>
        </p:txBody>
      </p:sp>
      <p:sp>
        <p:nvSpPr>
          <p:cNvPr id="5" name="TextShape 2"/>
          <p:cNvSpPr txBox="1"/>
          <p:nvPr/>
        </p:nvSpPr>
        <p:spPr>
          <a:xfrm>
            <a:off x="164008" y="1109742"/>
            <a:ext cx="5420715" cy="4838571"/>
          </a:xfrm>
          <a:prstGeom prst="rect">
            <a:avLst/>
          </a:prstGeom>
          <a:noFill/>
          <a:ln w="9360">
            <a:noFill/>
          </a:ln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endParaRPr lang="en-US" sz="19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ABAE8-68D7-C9AF-A43D-2E3FFA7A6AA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648929" y="1349324"/>
            <a:ext cx="4935794" cy="475650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Transitioning from reactive LLMs to Agentic AI introduces autonomous goal-setting and multi-step reasoning. However, machine speeds often outpace human verification capacity, creating an organizational absorption gap.</a:t>
            </a:r>
          </a:p>
          <a:p>
            <a:pPr>
              <a:lnSpc>
                <a:spcPct val="100000"/>
              </a:lnSpc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high-stakes environments, such as financial diagnostics, opacity triggers betrayal aversion, where the cost of AI error increases with the perceived intelligence of the system.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Agentic AI Workflow">
            <a:extLst>
              <a:ext uri="{FF2B5EF4-FFF2-40B4-BE49-F238E27FC236}">
                <a16:creationId xmlns:a16="http://schemas.microsoft.com/office/drawing/2014/main" id="{881F4CB6-77B9-80B8-91BE-C91E4F2BD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368" y="1533832"/>
            <a:ext cx="3116825" cy="3529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EFCB9-A635-2E0B-E3AF-D8604D98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7281E6F5-B43A-CBF8-EBD5-9FBB54E71B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7342" y="2312492"/>
            <a:ext cx="2753031" cy="2427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2FFDD5-58C4-E2CC-5F9C-9E03C6A668A6}"/>
              </a:ext>
            </a:extLst>
          </p:cNvPr>
          <p:cNvSpPr txBox="1"/>
          <p:nvPr/>
        </p:nvSpPr>
        <p:spPr>
          <a:xfrm>
            <a:off x="6936008" y="3108600"/>
            <a:ext cx="12732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EB Garamond" panose="00000500000000000000" pitchFamily="2" charset="0"/>
              </a:rPr>
              <a:t>Case Study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DCDF01-573B-FE01-B8F3-4D52BD51C059}"/>
              </a:ext>
            </a:extLst>
          </p:cNvPr>
          <p:cNvSpPr txBox="1"/>
          <p:nvPr/>
        </p:nvSpPr>
        <p:spPr>
          <a:xfrm>
            <a:off x="6196131" y="3664245"/>
            <a:ext cx="275303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Crimson Pro"/>
              </a:rPr>
              <a:t>Analysis of an autonomous portfolio management system focusing on intermediate reasoning steps.</a:t>
            </a:r>
            <a:endParaRPr lang="en-IN" sz="1400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1827D525-5267-21B4-CE58-3FE9AC007C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0638" y="2624918"/>
            <a:ext cx="381000" cy="39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CE2887E5-B053-EE46-E1D8-9B7B5884D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471" y="2305095"/>
            <a:ext cx="2615380" cy="2441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40C5C095-3EC5-3E65-D472-14CE39A9B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8671" y="2297700"/>
            <a:ext cx="2753031" cy="2441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A4117694-B8B9-BF01-940C-9456ECFC2C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2769" y="2638515"/>
            <a:ext cx="342900" cy="39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F4BA31C-D7EE-248F-5171-17DC81F66A87}"/>
              </a:ext>
            </a:extLst>
          </p:cNvPr>
          <p:cNvSpPr txBox="1"/>
          <p:nvPr/>
        </p:nvSpPr>
        <p:spPr>
          <a:xfrm>
            <a:off x="3542073" y="3137556"/>
            <a:ext cx="1777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u="none" strike="noStrike" dirty="0" err="1">
                <a:solidFill>
                  <a:srgbClr val="000000"/>
                </a:solidFill>
                <a:effectLst/>
                <a:latin typeface="EB Garamond" panose="00000500000000000000" pitchFamily="2" charset="0"/>
              </a:rPr>
              <a:t>Behavioral</a:t>
            </a:r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EB Garamond" panose="00000500000000000000" pitchFamily="2" charset="0"/>
              </a:rPr>
              <a:t> Data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6CC30-781F-BD88-4CC9-F86D91FC4D76}"/>
              </a:ext>
            </a:extLst>
          </p:cNvPr>
          <p:cNvSpPr txBox="1"/>
          <p:nvPr/>
        </p:nvSpPr>
        <p:spPr>
          <a:xfrm>
            <a:off x="3097813" y="3676908"/>
            <a:ext cx="27407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Crimson Pro"/>
              </a:rPr>
              <a:t>Validation across 1,000 AI-human interaction records quantifying accuracy and verification burden.</a:t>
            </a:r>
            <a:endParaRPr lang="en-IN" sz="1400" dirty="0"/>
          </a:p>
        </p:txBody>
      </p:sp>
      <p:pic>
        <p:nvPicPr>
          <p:cNvPr id="2058" name="Picture 10">
            <a:extLst>
              <a:ext uri="{FF2B5EF4-FFF2-40B4-BE49-F238E27FC236}">
                <a16:creationId xmlns:a16="http://schemas.microsoft.com/office/drawing/2014/main" id="{7141AD3D-03E2-3057-32BF-5D14D5D63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499" y="2747031"/>
            <a:ext cx="476250" cy="39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7738B5E-CA71-B00F-F172-B7C9958C3F1C}"/>
              </a:ext>
            </a:extLst>
          </p:cNvPr>
          <p:cNvSpPr txBox="1"/>
          <p:nvPr/>
        </p:nvSpPr>
        <p:spPr>
          <a:xfrm>
            <a:off x="557980" y="3137556"/>
            <a:ext cx="1696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u="none" strike="noStrike" dirty="0">
                <a:solidFill>
                  <a:srgbClr val="000000"/>
                </a:solidFill>
                <a:effectLst/>
                <a:latin typeface="EB Garamond" panose="00000500000000000000" pitchFamily="2" charset="0"/>
              </a:rPr>
              <a:t>SEM Analysis</a:t>
            </a:r>
            <a:endParaRPr lang="en-IN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8E3FE6-2BBB-5B17-6C34-243CCC0530F4}"/>
              </a:ext>
            </a:extLst>
          </p:cNvPr>
          <p:cNvSpPr txBox="1"/>
          <p:nvPr/>
        </p:nvSpPr>
        <p:spPr>
          <a:xfrm>
            <a:off x="280222" y="3676908"/>
            <a:ext cx="274074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Crimson Pro"/>
              </a:rPr>
              <a:t>Structural Equation Modeling </a:t>
            </a:r>
            <a:r>
              <a:rPr lang="en-US" sz="1400" b="0" i="0" u="none" strike="noStrike">
                <a:solidFill>
                  <a:srgbClr val="333333"/>
                </a:solidFill>
                <a:effectLst/>
                <a:latin typeface="Crimson Pro"/>
              </a:rPr>
              <a:t>on </a:t>
            </a:r>
            <a:r>
              <a:rPr lang="en-US" sz="1400">
                <a:solidFill>
                  <a:srgbClr val="333333"/>
                </a:solidFill>
                <a:latin typeface="Crimson Pro"/>
              </a:rPr>
              <a:t>several</a:t>
            </a:r>
            <a:r>
              <a:rPr lang="en-US" sz="1400" b="0" i="0" u="none" strike="noStrike">
                <a:solidFill>
                  <a:srgbClr val="333333"/>
                </a:solidFill>
                <a:effectLst/>
                <a:latin typeface="Crimson Pro"/>
              </a:rPr>
              <a:t> 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Crimson Pro"/>
              </a:rPr>
              <a:t>university students measuring PEOU, PU, and Trust.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851375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BDA9A-03B0-234B-F6DD-2E75BFC9D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35742"/>
            <a:ext cx="5486040" cy="78297"/>
          </a:xfrm>
        </p:spPr>
        <p:txBody>
          <a:bodyPr/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Tools and Technologies</a:t>
            </a:r>
            <a:b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DB213D-EB08-0EDF-3E97-1F90E8E21446}"/>
              </a:ext>
            </a:extLst>
          </p:cNvPr>
          <p:cNvSpPr txBox="1"/>
          <p:nvPr/>
        </p:nvSpPr>
        <p:spPr>
          <a:xfrm>
            <a:off x="2276168" y="3281205"/>
            <a:ext cx="45916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dirty="0">
                <a:effectLst/>
              </a:rPr>
              <a:t> </a:t>
            </a:r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7676C8-9898-C71D-E9E1-983539C09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544540"/>
              </p:ext>
            </p:extLst>
          </p:nvPr>
        </p:nvGraphicFramePr>
        <p:xfrm>
          <a:off x="457199" y="2077705"/>
          <a:ext cx="8229601" cy="2407000"/>
        </p:xfrm>
        <a:graphic>
          <a:graphicData uri="http://schemas.openxmlformats.org/drawingml/2006/table">
            <a:tbl>
              <a:tblPr/>
              <a:tblGrid>
                <a:gridCol w="1596259">
                  <a:extLst>
                    <a:ext uri="{9D8B030D-6E8A-4147-A177-3AD203B41FA5}">
                      <a16:colId xmlns:a16="http://schemas.microsoft.com/office/drawing/2014/main" val="31298000"/>
                    </a:ext>
                  </a:extLst>
                </a:gridCol>
                <a:gridCol w="2021928">
                  <a:extLst>
                    <a:ext uri="{9D8B030D-6E8A-4147-A177-3AD203B41FA5}">
                      <a16:colId xmlns:a16="http://schemas.microsoft.com/office/drawing/2014/main" val="1491191089"/>
                    </a:ext>
                  </a:extLst>
                </a:gridCol>
                <a:gridCol w="4611414">
                  <a:extLst>
                    <a:ext uri="{9D8B030D-6E8A-4147-A177-3AD203B41FA5}">
                      <a16:colId xmlns:a16="http://schemas.microsoft.com/office/drawing/2014/main" val="795147457"/>
                    </a:ext>
                  </a:extLst>
                </a:gridCol>
              </a:tblGrid>
              <a:tr h="48140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1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Category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1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Tool / Technology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1" i="0" u="none" strike="noStrike" dirty="0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Application</a:t>
                      </a:r>
                      <a:endParaRPr lang="en-IN" sz="1700" dirty="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165704"/>
                  </a:ext>
                </a:extLst>
              </a:tr>
              <a:tr h="48140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Analysis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SmartPLS 4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Path analysis and PLS-SEM modeling.</a:t>
                      </a:r>
                      <a:endParaRPr lang="en-US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27979"/>
                  </a:ext>
                </a:extLst>
              </a:tr>
              <a:tr h="48140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Data Collection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7-point Likert Scale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Measuring PEOU, PU, and Trust constructs.</a:t>
                      </a:r>
                      <a:endParaRPr lang="en-US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756773"/>
                  </a:ext>
                </a:extLst>
              </a:tr>
              <a:tr h="48140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Validation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OLS Regression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Quantifying trust-accuracy-transparency dynamics.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351228"/>
                  </a:ext>
                </a:extLst>
              </a:tr>
              <a:tr h="48140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Environment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IN" sz="1400" b="0" i="0" u="none" strike="noStrike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Financial Simulation</a:t>
                      </a:r>
                      <a:endParaRPr lang="en-IN" sz="170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nb-NO" sz="1400" b="0" i="0" u="none" strike="noStrike" dirty="0">
                          <a:solidFill>
                            <a:srgbClr val="333333"/>
                          </a:solidFill>
                          <a:effectLst/>
                          <a:latin typeface="Crimson Pro"/>
                        </a:rPr>
                        <a:t>Testing HVA vs. CVA agent performance.</a:t>
                      </a:r>
                      <a:endParaRPr lang="nb-NO" sz="1700" dirty="0">
                        <a:effectLst/>
                      </a:endParaRPr>
                    </a:p>
                  </a:txBody>
                  <a:tcPr marL="49661" marR="49661" marT="21283" marB="21283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001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7522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B7F99-97C8-B2E0-2A64-467EE7893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Findings: HVA vs. CVA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ACD236A-C050-9093-1455-E74808A8E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5639" y="1711684"/>
            <a:ext cx="9144000" cy="396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9547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68D4-80DA-5546-0093-E78F9499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8F076A-30D0-E8DF-4C01-9E2A815F99F5}"/>
              </a:ext>
            </a:extLst>
          </p:cNvPr>
          <p:cNvSpPr txBox="1"/>
          <p:nvPr/>
        </p:nvSpPr>
        <p:spPr>
          <a:xfrm>
            <a:off x="727587" y="1793143"/>
            <a:ext cx="742335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i="0" u="none" strike="noStrike" dirty="0">
                <a:solidFill>
                  <a:srgbClr val="333333"/>
                </a:solidFill>
                <a:effectLst/>
                <a:latin typeface="Crimson Pro"/>
              </a:rPr>
              <a:t>Calibrated Velocity:</a:t>
            </a:r>
            <a:r>
              <a:rPr lang="en-US" sz="1800" b="0" i="0" u="none" strike="noStrike" dirty="0">
                <a:solidFill>
                  <a:srgbClr val="333333"/>
                </a:solidFill>
                <a:effectLst/>
                <a:latin typeface="Crimson Pro"/>
              </a:rPr>
              <a:t> Designing AI to match human cognitive capacity through adaptive verbosity and progressive disclosure.</a:t>
            </a:r>
            <a:endParaRPr lang="en-US" b="0" dirty="0">
              <a:effectLst/>
            </a:endParaRPr>
          </a:p>
          <a:p>
            <a:pPr>
              <a:buNone/>
            </a:pPr>
            <a:br>
              <a:rPr lang="en-US" dirty="0"/>
            </a:br>
            <a:r>
              <a:rPr lang="en-US" b="1" dirty="0"/>
              <a:t>Cognitive Exoskeleton:</a:t>
            </a:r>
            <a:r>
              <a:rPr lang="en-US" dirty="0"/>
              <a:t> Moving from black-box automation to verifiable architectural alignment.</a:t>
            </a:r>
          </a:p>
          <a:p>
            <a:pPr>
              <a:buNone/>
            </a:pPr>
            <a:endParaRPr lang="en-US" dirty="0"/>
          </a:p>
          <a:p>
            <a:r>
              <a:rPr lang="en-US" b="1" dirty="0"/>
              <a:t>Future Research:</a:t>
            </a:r>
            <a:r>
              <a:rPr lang="en-US" dirty="0"/>
              <a:t> Longitudinal studies and physiological measures to quantify psychological costs.</a:t>
            </a:r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469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Shape 1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 w="9360"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sz="5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Shape 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</a:pPr>
            <a:fld id="{4D4FEEEE-7AC5-48A9-86F4-13448BE87B58}" type="slidenum">
              <a:rPr lang="en-US" sz="1200" b="1" strike="noStrike" spc="-1">
                <a:solidFill>
                  <a:srgbClr val="000000"/>
                </a:solidFill>
                <a:latin typeface="Calibri"/>
                <a:ea typeface="MS PGothic"/>
              </a:rPr>
              <a:pPr algn="r">
                <a:lnSpc>
                  <a:spcPct val="100000"/>
                </a:lnSpc>
              </a:pPr>
              <a:t>7</a:t>
            </a:fld>
            <a:endParaRPr lang="en-GB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4479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6F1BF43DDE004485E7A868D137D60A" ma:contentTypeVersion="0" ma:contentTypeDescription="Create a new document." ma:contentTypeScope="" ma:versionID="47fff7f98a9c49c088ba096c14cf445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05e9f2c4932a6a674126b9dde7716e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37ED6F0-5E4C-4CD0-9B68-9C53F925A6F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1DF113-39A2-46D5-BFDA-E63300A9EC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A62A602-78C1-468C-BB25-57CD481DB741}">
  <ds:schemaRefs>
    <ds:schemaRef ds:uri="http://purl.org/dc/terms/"/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34734</TotalTime>
  <Words>301</Words>
  <Application>Microsoft Office PowerPoint</Application>
  <PresentationFormat>On-screen Show (4:3)</PresentationFormat>
  <Paragraphs>61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Crimson Pro</vt:lpstr>
      <vt:lpstr>EB Garamond</vt:lpstr>
      <vt:lpstr>Times New Roman</vt:lpstr>
      <vt:lpstr>Office Theme</vt:lpstr>
      <vt:lpstr>PowerPoint Presentation</vt:lpstr>
      <vt:lpstr>PowerPoint Presentation</vt:lpstr>
      <vt:lpstr>Methodology</vt:lpstr>
      <vt:lpstr>     Tools and Technologies  </vt:lpstr>
      <vt:lpstr>Major Findings: HVA vs. CVA</vt:lpstr>
      <vt:lpstr>Conclusion and Future Scope</vt:lpstr>
      <vt:lpstr>PowerPoint Presentation</vt:lpstr>
    </vt:vector>
  </TitlesOfParts>
  <Company>CCC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ABC</dc:creator>
  <cp:lastModifiedBy>Tanisha Sharma</cp:lastModifiedBy>
  <cp:revision>2302</cp:revision>
  <dcterms:created xsi:type="dcterms:W3CDTF">2010-04-09T07:36:15Z</dcterms:created>
  <dcterms:modified xsi:type="dcterms:W3CDTF">2026-05-18T08:29:38Z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